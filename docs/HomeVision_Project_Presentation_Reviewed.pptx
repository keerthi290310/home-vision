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84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9326880" y="-1554480"/>
            <a:ext cx="4114800" cy="4114800"/>
          </a:xfrm>
          <a:prstGeom prst="ellipse">
            <a:avLst/>
          </a:prstGeom>
          <a:solidFill>
            <a:srgbClr val="F9E5F0">
              <a:alpha val="85000"/>
            </a:srgbClr>
          </a:solidFill>
          <a:ln w="12700">
            <a:solidFill>
              <a:srgbClr val="F9E5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0">
            <a:off x="-1645920" y="4663440"/>
            <a:ext cx="3657600" cy="3657600"/>
          </a:xfrm>
          <a:prstGeom prst="ellipse">
            <a:avLst/>
          </a:prstGeom>
          <a:solidFill>
            <a:srgbClr val="DDE8FF">
              <a:alpha val="85000"/>
            </a:srgbClr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02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70" dirty="0">
                <a:solidFill>
                  <a:srgbClr val="6C8EEB"/>
                </a:solidFill>
              </a:rPr>
              <a:t>MACHINE LEARNING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4324A"/>
                </a:solidFill>
              </a:rPr>
              <a:t>HOMEVISION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24A"/>
                </a:solidFill>
              </a:rPr>
              <a:t>AI-Based Housing Price Prediction and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4324A"/>
                </a:solidFill>
              </a:rPr>
              <a:t>Days-on-Market Analysis System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318211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821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</a:rPr>
              <a:t>PRICE PREDICTION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18211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1821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</a:rPr>
              <a:t>DAYS-ON-MARKET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318211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1821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</a:rPr>
              <a:t>WHAT-IF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050792"/>
            <a:ext cx="70866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315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6A6C8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/>
              <a:t>2500032083 — G. Keerthi
2500032211 — T. Sahasra
2500032155 — K. Nansy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45902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9758B"/>
                </a:solidFill>
              </a:rPr>
              <a:t>B.Tech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69758B"/>
                </a:solidFill>
              </a:rPr>
              <a:t>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1. Problem Statement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Why a price-only prediction is not enough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737360"/>
            <a:ext cx="5285232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1928" y="1737360"/>
            <a:ext cx="5285232" cy="4069080"/>
          </a:xfrm>
          <a:prstGeom prst="roundRect">
            <a:avLst>
              <a:gd name="adj" fmla="val 1348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A6C8"/>
                </a:solidFill>
              </a:rPr>
              <a:t>CURRENT CHALLENGE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542032"/>
            <a:ext cx="4498848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Most housing ML demos estimate price only.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Sellers also need an expected market duration.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Property changes can affect both outcomes.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A single output limits decision support.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8EEB"/>
                </a:solidFill>
              </a:rPr>
              <a:t>HOMEVISION RESPONSE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11112" y="2542032"/>
            <a:ext cx="4498848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Predict totalPrice from property features.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Predict DOM as a separate ML task.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Test alternative property scenarios.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24A"/>
                </a:solidFill>
              </a:rPr>
              <a:t>Compare price and market time together.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2. Existing Approach vs HomeVision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The difference is implemented in the workflow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73352"/>
            <a:ext cx="3474720" cy="493776"/>
          </a:xfrm>
          <a:prstGeom prst="roundRect">
            <a:avLst>
              <a:gd name="adj" fmla="val 9259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Typical focus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98848" y="1673352"/>
            <a:ext cx="3474720" cy="493776"/>
          </a:xfrm>
          <a:prstGeom prst="roundRect">
            <a:avLst>
              <a:gd name="adj" fmla="val 9259"/>
            </a:avLst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HomeVision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39328" y="1673352"/>
            <a:ext cx="3474720" cy="493776"/>
          </a:xfrm>
          <a:prstGeom prst="roundRect">
            <a:avLst>
              <a:gd name="adj" fmla="val 9259"/>
            </a:avLst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231343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" y="2459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24A"/>
                </a:solidFill>
              </a:rPr>
              <a:t>Price estimate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98848" y="231343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36008" y="2459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Price + DOM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39328" y="2313432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76488" y="2459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Value + time 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008376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5528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24A"/>
                </a:solidFill>
              </a:rPr>
              <a:t>Single prediction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98848" y="3008376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36008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Two models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9328" y="3008376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76488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Compare outcomes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" y="3703320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" y="38496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24A"/>
                </a:solidFill>
              </a:rPr>
              <a:t>Static inputs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98848" y="3703320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36008" y="38496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Interactive what-if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39328" y="3703320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76488" y="38496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Explore scenarios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398264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5528" y="4544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4324A"/>
                </a:solidFill>
              </a:rPr>
              <a:t>Model output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98848" y="4398264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36008" y="4544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Decision dashboard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39328" y="4398264"/>
            <a:ext cx="3474720" cy="530352"/>
          </a:xfrm>
          <a:prstGeom prst="roundRect">
            <a:avLst>
              <a:gd name="adj" fmla="val 10345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76488" y="45445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Interpret together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" y="5650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8EEB"/>
                </a:solidFill>
              </a:rPr>
              <a:t>ONE PLATFORM  /  TWO PREDICTIONS  /  MANY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3. Objectives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What the system is designed to achieve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59536" y="19202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8EEB"/>
                </a:solidFill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27048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4A"/>
                </a:solidFill>
              </a:rPr>
              <a:t>Price prediction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7048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Estimate totalPrice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98848" y="173736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0016" y="19202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A6C8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67528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4A"/>
                </a:solidFill>
              </a:rPr>
              <a:t>Market-time prediction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7528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Estimate DOM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328" y="173736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40496" y="192024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8EEB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08008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4A"/>
                </a:solidFill>
              </a:rPr>
              <a:t>What-if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8008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Compare scenarios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61188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59536" y="379476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A6C8"/>
                </a:solidFill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2704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/>
              <a:t>Feature impact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7048" y="4297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Show influence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98848" y="361188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00016" y="379476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C8EEB"/>
                </a:solidFill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36752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4A"/>
                </a:solidFill>
              </a:rPr>
              <a:t>Unified dashboard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7528" y="4297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View both outputs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39328" y="361188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40496" y="379476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A6C8"/>
                </a:solidFill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208008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4A"/>
                </a:solidFill>
              </a:rPr>
              <a:t>Reliable evaluation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08008" y="4297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MAE, RMSE, R²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500000" y="6200000"/>
            <a:ext cx="8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Statistical Factor Analysis: exploratory factor loadings and numeric relationships (not causal).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4. Dataset &amp; Prediction Targets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/>
              <a:t>Historical Beijing housing records (2002–Jan 2018)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5349240" cy="987552"/>
          </a:xfrm>
          <a:prstGeom prst="roundRect">
            <a:avLst>
              <a:gd name="adj" fmla="val 5556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" y="1847088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196138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1783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Read the housing 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2103120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Collect property details, sale values and listing dates from the dataset.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770632"/>
            <a:ext cx="5349240" cy="987552"/>
          </a:xfrm>
          <a:prstGeom prst="roundRect">
            <a:avLst>
              <a:gd name="adj" fmla="val 5556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1248" y="3017520"/>
            <a:ext cx="438912" cy="438912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1248" y="313182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35608" y="29535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Clean incomplete values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35608" y="327355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Handle missing fields and remove records that cannot support reliable learning.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941064"/>
            <a:ext cx="5349240" cy="987552"/>
          </a:xfrm>
          <a:prstGeom prst="roundRect">
            <a:avLst>
              <a:gd name="adj" fmla="val 5556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1248" y="4187952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" y="430225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35608" y="41239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Prepare model-ready features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4443984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Convert categories into numbers and keep the feature format consistent.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5230368" cy="1225296"/>
          </a:xfrm>
          <a:prstGeom prst="roundRect">
            <a:avLst>
              <a:gd name="adj" fmla="val 4478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29400" y="1856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EB"/>
                </a:solidFill>
              </a:rPr>
              <a:t>PRICE TARGET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21945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4A"/>
                </a:solidFill>
              </a:rPr>
              <a:t>totalPrice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309360" y="3054096"/>
            <a:ext cx="5230368" cy="1225296"/>
          </a:xfrm>
          <a:prstGeom prst="roundRect">
            <a:avLst>
              <a:gd name="adj" fmla="val 4478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29400" y="3310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6C8"/>
                </a:solidFill>
              </a:rPr>
              <a:t>MARKET-TIME TARGET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36484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4A"/>
                </a:solidFill>
              </a:rPr>
              <a:t>DOM — days on market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309360" y="4507992"/>
            <a:ext cx="52303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29400" y="4754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EEB"/>
                </a:solidFill>
              </a:rPr>
              <a:t>KEY IDEA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47000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4A"/>
                </a:solidFill>
              </a:rPr>
              <a:t>The same property description supports two separate prediction goals.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5. System Architecture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From property input to decision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816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PROPERTY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5603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2816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PREPROCESSING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&amp; ENCODING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21808" y="182880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13248" y="2084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PRICE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21808" y="3355848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DOM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25603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28163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DECISION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23160" y="3035808"/>
            <a:ext cx="320040" cy="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3035808"/>
            <a:ext cx="749808" cy="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3035808"/>
            <a:ext cx="749808" cy="786384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50608" y="2304288"/>
            <a:ext cx="1216152" cy="576072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50608" y="3822192"/>
            <a:ext cx="1216152" cy="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5138928"/>
            <a:ext cx="8183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9050">
            <a:solidFill>
              <a:srgbClr val="E6A6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53400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324A"/>
                </a:solidFill>
              </a:rPr>
              <a:t>WHAT-IF LAYER  ·  Modify inputs → rerun both models → compare outcomes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6. Machine Learning Methodology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The logic followed from raw data to two reliable models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5257800" cy="987552"/>
          </a:xfrm>
          <a:prstGeom prst="roundRect">
            <a:avLst>
              <a:gd name="adj" fmla="val 5556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801368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1566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17373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Load &amp; clean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205740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Start with consistent, usable housing records.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257800" cy="987552"/>
          </a:xfrm>
          <a:prstGeom prst="roundRect">
            <a:avLst>
              <a:gd name="adj" fmla="val 5556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01368"/>
            <a:ext cx="438912" cy="438912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1566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Prepare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05740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Transform property details into a model-readable form.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2880360"/>
            <a:ext cx="5257800" cy="987552"/>
          </a:xfrm>
          <a:prstGeom prst="roundRect">
            <a:avLst>
              <a:gd name="adj" fmla="val 5556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127248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24154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35608" y="30632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Split the 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338328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Keep unseen records aside for honest evaluation.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5257800" cy="987552"/>
          </a:xfrm>
          <a:prstGeom prst="roundRect">
            <a:avLst>
              <a:gd name="adj" fmla="val 5556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127248"/>
            <a:ext cx="438912" cy="438912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24154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30632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Train separately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338328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Build one model for price and another for DOM.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4206240"/>
            <a:ext cx="5257800" cy="987552"/>
          </a:xfrm>
          <a:prstGeom prst="roundRect">
            <a:avLst>
              <a:gd name="adj" fmla="val 5556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5674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35608" y="43891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Evaluate results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35608" y="470916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Measure errors on the held-out test records.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4206240"/>
            <a:ext cx="5257800" cy="987552"/>
          </a:xfrm>
          <a:prstGeom prst="roundRect">
            <a:avLst>
              <a:gd name="adj" fmla="val 5556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4453128"/>
            <a:ext cx="438912" cy="438912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56742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43891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Save the pipeline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470916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Reuse the same preparation rules during prediction.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3000" y="565099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Leakage control: DOM is not used to predict price, and totalPrice is not used to predict DOM.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7. Prediction Logic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How one property scenario produces two useful outputs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87452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90472" y="2176272"/>
            <a:ext cx="868680" cy="868680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24140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324A"/>
                </a:solidFill>
              </a:rPr>
              <a:t>Receive inputs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391363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9758B"/>
                </a:solidFill>
              </a:rPr>
              <a:t>Area, rooms, floor, year, renovation and location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82112" y="3456432"/>
            <a:ext cx="310896" cy="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47872" y="187452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25112" y="2176272"/>
            <a:ext cx="868680" cy="868680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24140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76472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324A"/>
                </a:solidFill>
              </a:rPr>
              <a:t>Apply preparation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22192" y="391363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9758B"/>
                </a:solidFill>
              </a:rPr>
              <a:t>Use the same cleaning and encoding rules used in training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16752" y="3456432"/>
            <a:ext cx="310896" cy="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82512" y="187452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9752" y="2176272"/>
            <a:ext cx="868680" cy="868680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24140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11112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324A"/>
                </a:solidFill>
              </a:rPr>
              <a:t>Run both models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56832" y="391363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9758B"/>
                </a:solidFill>
              </a:rPr>
              <a:t>Send the prepared property to the price and DOM models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51392" y="3456432"/>
            <a:ext cx="310896" cy="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17152" y="1874520"/>
            <a:ext cx="2423160" cy="3200400"/>
          </a:xfrm>
          <a:prstGeom prst="roundRect">
            <a:avLst>
              <a:gd name="adj" fmla="val 2264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94392" y="2176272"/>
            <a:ext cx="868680" cy="868680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94392" y="24140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45752" y="3337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324A"/>
                </a:solidFill>
              </a:rPr>
              <a:t>Return together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491472" y="391363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9758B"/>
                </a:solidFill>
              </a:rPr>
              <a:t>Show estimated value and expected market duration side by side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5532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8EEB"/>
                </a:solidFill>
              </a:rPr>
              <a:t>One input flow · consistent preparation · two independent predictions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8. HomeVision Dashboard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One interface for prediction and comparison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2788920" cy="4224528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32688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PROPERTY INPUTS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423160"/>
            <a:ext cx="214884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24A"/>
                </a:solidFill>
              </a:rPr>
              <a:t>Area and rooms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24A"/>
                </a:solidFill>
              </a:rPr>
              <a:t>Floor and building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24A"/>
                </a:solidFill>
              </a:rPr>
              <a:t>Construction year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24A"/>
                </a:solidFill>
              </a:rPr>
              <a:t>Renovation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24A"/>
                </a:solidFill>
              </a:rPr>
              <a:t>Elevator and subway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24A"/>
                </a:solidFill>
              </a:rPr>
              <a:t>District and location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1691640"/>
            <a:ext cx="3566160" cy="1901952"/>
          </a:xfrm>
          <a:prstGeom prst="roundRect">
            <a:avLst>
              <a:gd name="adj" fmla="val 2885"/>
            </a:avLst>
          </a:prstGeom>
          <a:solidFill>
            <a:srgbClr val="DDE8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2336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PREDICTED PRICE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24A"/>
                </a:solidFill>
              </a:rPr>
              <a:t>Model output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023360" y="3072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currency / comparison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379476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9E5F0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02336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6C8"/>
                </a:solidFill>
              </a:rPr>
              <a:t>PREDICTED DOM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4645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324A"/>
                </a:solidFill>
              </a:rPr>
              <a:t>Expected days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023360" y="5184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market duration / comparison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691640"/>
            <a:ext cx="4005072" cy="4224528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6384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WHAT-IF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758B"/>
                </a:solidFill>
              </a:rPr>
              <a:t>SCENARIO 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28437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24A"/>
                </a:solidFill>
              </a:rPr>
              <a:t>90 m² · standard finish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0" y="3310128"/>
            <a:ext cx="2926080" cy="0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63840" y="3611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A6C8"/>
                </a:solidFill>
              </a:rPr>
              <a:t>SCENARIO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391363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24A"/>
                </a:solidFill>
              </a:rPr>
              <a:t>110 m² · renovated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63840" y="461772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Compare price and DOM; this quick scenario changes area, renovation and floor while other inputs stay at sample defaults.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9. Project Implementation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How the system parts work together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1508760"/>
            <a:ext cx="6446520" cy="841248"/>
          </a:xfrm>
          <a:prstGeom prst="roundRect">
            <a:avLst>
              <a:gd name="adj" fmla="val 6522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16916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EB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65506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4A"/>
                </a:solidFill>
              </a:rPr>
              <a:t>Loads the dataset, checks quality and prepares reusable features.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2359152"/>
            <a:ext cx="0" cy="22860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9808" y="2606040"/>
            <a:ext cx="6446520" cy="841248"/>
          </a:xfrm>
          <a:prstGeom prst="roundRect">
            <a:avLst>
              <a:gd name="adj" fmla="val 6522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4128" y="27889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6C8"/>
                </a:solidFill>
              </a:rPr>
              <a:t>MODEL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752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4A"/>
                </a:solidFill>
              </a:rPr>
              <a:t>Trains and stores two independent regression models.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31920" y="3456432"/>
            <a:ext cx="0" cy="22860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3703320"/>
            <a:ext cx="6446520" cy="841248"/>
          </a:xfrm>
          <a:prstGeom prst="roundRect">
            <a:avLst>
              <a:gd name="adj" fmla="val 6522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3886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EB"/>
                </a:solidFill>
              </a:rPr>
              <a:t>PREDICTION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84962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4A"/>
                </a:solidFill>
              </a:rPr>
              <a:t>Applies identical preparation before producing both estimates.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4553712"/>
            <a:ext cx="0" cy="228600"/>
          </a:xfrm>
          <a:prstGeom prst="line">
            <a:avLst/>
          </a:prstGeom>
          <a:noFill/>
          <a:ln w="25400">
            <a:solidFill>
              <a:srgbClr val="6C8E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" y="4800600"/>
            <a:ext cx="6446520" cy="841248"/>
          </a:xfrm>
          <a:prstGeom prst="roundRect">
            <a:avLst>
              <a:gd name="adj" fmla="val 6522"/>
            </a:avLst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4128" y="49834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6C8"/>
                </a:solidFill>
              </a:rPr>
              <a:t>APPLICATION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494690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4A"/>
                </a:solidFill>
              </a:rPr>
              <a:t>Collects property inputs and presents comparison-ready results.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1508760"/>
            <a:ext cx="3886200" cy="41148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82128" y="1828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8EEB"/>
                </a:solidFill>
              </a:rPr>
              <a:t>END-TO-END LOGIC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45552" y="2267712"/>
            <a:ext cx="30632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4A"/>
                </a:solidFill>
              </a:rPr>
              <a:t>User enters a property scenario.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4A"/>
                </a:solidFill>
              </a:rPr>
              <a:t>The system validates and prepares each value.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4A"/>
                </a:solidFill>
              </a:rPr>
              <a:t>Both stored models receive matching features.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4A"/>
                </a:solidFill>
              </a:rPr>
              <a:t>Price and DOM are displayed together.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24A"/>
                </a:solidFill>
              </a:rPr>
              <a:t>A changed input creates a new what-if comparison.</a:t>
            </a:r>
            <a:endParaRPr lang="en-US" sz="1500" dirty="0"/>
          </a:p>
        </p:txBody>
      </p:sp>
      <p:sp>
        <p:nvSpPr>
          <p:cNvPr id="26" name="TextBox 25"/>
          <p:cNvSpPr txBox="1"/>
          <p:nvPr/>
        </p:nvSpPr>
        <p:spPr>
          <a:xfrm>
            <a:off x="500000" y="6200000"/>
            <a:ext cx="8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Model Insights includes permutation feature importance plus a separate exploratory statistical Factor Analysis endpoint.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10. Evaluation Logic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How model quality is checked without using training examples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819656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3395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35608" y="17556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Reserve unseen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20756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The test set remains separate while the models learn.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788920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035808"/>
            <a:ext cx="438912" cy="438912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15010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35608" y="297180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Generate predictions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35608" y="3291840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Both models estimate outcomes for the held-out properties.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005072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DDF3EB"/>
          </a:solidFill>
          <a:ln w="12700">
            <a:solidFill>
              <a:srgbClr val="DDF3EB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4251960"/>
            <a:ext cx="438912" cy="43891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36626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35608" y="418795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Compare with reality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35608" y="450799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9758B"/>
                </a:solidFill>
              </a:rPr>
              <a:t>Predictions are measured against known price and DOM values.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572768"/>
            <a:ext cx="5276088" cy="3694176"/>
          </a:xfrm>
          <a:prstGeom prst="roundRect">
            <a:avLst>
              <a:gd name="adj" fmla="val 148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WHAT EACH MEASURE TELLS US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2395728"/>
            <a:ext cx="530352" cy="53035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57860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6092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Average size of the prediction error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3182112"/>
            <a:ext cx="530352" cy="530352"/>
          </a:xfrm>
          <a:prstGeom prst="ellipse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36499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RMSE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60920" y="32369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Gives extra weight to larger mistakes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3968496"/>
            <a:ext cx="530352" cy="530352"/>
          </a:xfrm>
          <a:prstGeom prst="ellipse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15137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R²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60920" y="4023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Shows how much outcome variation is explained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4864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9758B"/>
                </a:solidFill>
              </a:rPr>
              <a:t>Final values are filled only after the actual training run.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11. Results &amp; Validation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/>
              <a:t>Actual held-out test metrics from the packaged model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4708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PRICE MODEL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0488" y="1664208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84708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DOM 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254203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MAE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32.18 (×10,000 CNY)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254203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MAE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18.15 days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54203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97480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RMSE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65.38 (×10,000 CNY)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254203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RMSE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37.44 days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54203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43400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R²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0.920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84080" y="254203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875520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24A"/>
                </a:solidFill>
              </a:rPr>
              <a:t>R²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/>
              <a:t>0.456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3986784"/>
            <a:ext cx="1026871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34440" y="42611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6C8"/>
                </a:solidFill>
              </a:rPr>
              <a:t>VALIDATION NOTES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4440" y="464515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/>
              <a:t>Held-out test set: price n=63,771; DOM n=32,175. Price MAE ≈ ¥321,838. DOM MAE ≈ 18.2 days; DOM R² is moderate, so treat it as an approximate estimate. R² is not accuracy %.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C8EEB"/>
          </a:solidFill>
          <a:ln w="12700">
            <a:solidFill>
              <a:srgbClr val="6C8E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91440"/>
            <a:ext cx="2450592" cy="91440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28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C8E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58B"/>
                </a:solidFill>
              </a:rPr>
              <a:t>HOMEVISION  |  MACHINE LEARNING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</a:rPr>
              <a:t>12. Interpreting the Output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85216" y="116128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9758B"/>
                </a:solidFill>
              </a:rPr>
              <a:t>How the final results support a property decision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901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PREDICTED PRICE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957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24A"/>
                </a:solidFill>
              </a:rPr>
              <a:t>Estimated property value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9758B"/>
                </a:solidFill>
              </a:rPr>
              <a:t>Helps the user understand the likely market value for the selected property conditions.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6177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Compare this value across what-if scenarios to see how property changes may influence price.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572768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  <a:effectLst>
            <a:outerShdw blurRad="25400" dist="50800" dir="2700000" algn="bl" rotWithShape="0">
              <a:srgbClr val="7C6F8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1901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6C8"/>
                </a:solidFill>
              </a:rPr>
              <a:t>PREDICTED DOM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1112" y="239572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324A"/>
                </a:solidFill>
              </a:rPr>
              <a:t>Expected market duration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611112" y="31546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9758B"/>
                </a:solidFill>
              </a:rPr>
              <a:t>Shows approximately how long the property may remain listed before a sale.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1112" y="46177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24A"/>
                </a:solidFill>
              </a:rPr>
              <a:t>Read it together with price: a stronger value estimate may still involve a longer selling period.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6C8"/>
          </a:solidFill>
          <a:ln w="12700">
            <a:solidFill>
              <a:srgbClr val="E6A6C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5943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HOMEVISION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DE8FF"/>
                </a:solidFill>
              </a:rPr>
              <a:t>From property value to property decision support.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25786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PRICE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24A"/>
                </a:solidFill>
              </a:rPr>
              <a:t>Housing value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228600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21608" y="25786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6C8"/>
                </a:solidFill>
              </a:rPr>
              <a:t>DOM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21608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24A"/>
                </a:solidFill>
              </a:rPr>
              <a:t>Market duration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10528" y="25786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8EEB"/>
                </a:solidFill>
              </a:rPr>
              <a:t>WHAT-IF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24A"/>
                </a:solidFill>
              </a:rPr>
              <a:t>Scenario comparison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98280" y="228600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9E5F0"/>
          </a:solidFill>
          <a:ln w="12700">
            <a:solidFill>
              <a:srgbClr val="F9E5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99448" y="257860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A6C8"/>
                </a:solidFill>
              </a:rPr>
              <a:t>INSIGHT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99448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Permutation feature impact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E6A6C8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873752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Future: time-aware data · richer location data · calibrated uncertainty · explainability · deployment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61081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/>
              <a:t>2500032083 — G. Keerthi   |   2500032211 — T. Sahasra   |   2500032155 — K. Nansy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Widescreen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B.Tech — Computer Science and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HomeVision</dc:title>
  <dc:subject>Machine Learning Project</dc:subject>
  <dc:creator>Deepthi, Keerthi, Harshitha</dc:creator>
  <cp:lastModifiedBy>jonnakuti chaithanya</cp:lastModifiedBy>
  <cp:revision>2</cp:revision>
  <dcterms:created xsi:type="dcterms:W3CDTF">2026-10-06T09:09:59Z</dcterms:created>
  <dcterms:modified xsi:type="dcterms:W3CDTF">2026-10-06T09:21:29Z</dcterms:modified>
</cp:coreProperties>
</file>